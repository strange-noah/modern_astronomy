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3"/>
    <p:sldId id="258" r:id="rId4"/>
    <p:sldId id="261" r:id="rId5"/>
    <p:sldId id="260" r:id="rId6"/>
    <p:sldId id="259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6" r:id="rId16"/>
    <p:sldId id="277" r:id="rId17"/>
    <p:sldId id="278" r:id="rId18"/>
    <p:sldId id="272" r:id="rId19"/>
    <p:sldId id="273" r:id="rId20"/>
    <p:sldId id="274" r:id="rId21"/>
    <p:sldId id="282" r:id="rId22"/>
    <p:sldId id="283" r:id="rId23"/>
    <p:sldId id="285" r:id="rId24"/>
    <p:sldId id="279" r:id="rId25"/>
    <p:sldId id="287" r:id="rId26"/>
    <p:sldId id="281" r:id="rId27"/>
    <p:sldId id="288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8.xml"/><Relationship Id="rId3" Type="http://schemas.openxmlformats.org/officeDocument/2006/relationships/image" Target="../media/image1.jpe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0.xml"/><Relationship Id="rId2" Type="http://schemas.openxmlformats.org/officeDocument/2006/relationships/image" Target="../media/image2.jpeg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3.xml"/><Relationship Id="rId3" Type="http://schemas.openxmlformats.org/officeDocument/2006/relationships/image" Target="../media/image3.png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5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6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7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8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9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0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1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2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3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84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85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6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7.xml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8.xml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9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0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1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2.xml"/><Relationship Id="rId1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3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4.xml"/><Relationship Id="rId1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41325" y="1299845"/>
            <a:ext cx="11570970" cy="2570480"/>
          </a:xfrm>
        </p:spPr>
        <p:txBody>
          <a:bodyPr anchor="ctr" anchorCtr="0">
            <a:noAutofit/>
          </a:bodyPr>
          <a:p>
            <a:pPr algn="ctr"/>
            <a:r>
              <a:rPr lang="en-US" altLang="zh-CN" sz="32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Human–Algorithm Collaboration in Exoplanet Detection: </a:t>
            </a:r>
            <a:br>
              <a:rPr lang="en-US" altLang="zh-CN" sz="32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</a:br>
            <a:r>
              <a:rPr lang="en-US" altLang="zh-CN" sz="32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 Planet Hunters TESS Citizen Science Project</a:t>
            </a:r>
            <a:endParaRPr lang="en-US" altLang="zh-CN" sz="32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4718005"/>
            <a:ext cx="9799200" cy="1472400"/>
          </a:xfrm>
        </p:spPr>
        <p:txBody>
          <a:bodyPr/>
          <a:p>
            <a:r>
              <a:rPr lang="en-US" altLang="zh-CN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Mathew Zhou</a:t>
            </a:r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>
                <a:solidFill>
                  <a:schemeClr val="bg1"/>
                </a:solidFill>
                <a:latin typeface="黑体" charset="0"/>
                <a:ea typeface="黑体" charset="0"/>
                <a:cs typeface="黑体" charset="0"/>
              </a:rPr>
              <a:t>(2500011162 </a:t>
            </a:r>
            <a:r>
              <a:rPr lang="zh-CN" altLang="en-US">
                <a:solidFill>
                  <a:schemeClr val="bg1"/>
                </a:solidFill>
                <a:latin typeface="黑体" charset="0"/>
                <a:ea typeface="黑体" charset="0"/>
                <a:cs typeface="黑体" charset="0"/>
              </a:rPr>
              <a:t>周子涵</a:t>
            </a:r>
            <a:r>
              <a:rPr lang="en-US" altLang="zh-CN">
                <a:solidFill>
                  <a:schemeClr val="bg1"/>
                </a:solidFill>
                <a:latin typeface="黑体" charset="0"/>
                <a:ea typeface="黑体" charset="0"/>
                <a:cs typeface="黑体" charset="0"/>
              </a:rPr>
              <a:t>)</a:t>
            </a:r>
            <a:endParaRPr lang="en-US" altLang="zh-CN">
              <a:solidFill>
                <a:schemeClr val="bg1"/>
              </a:solidFill>
              <a:latin typeface="黑体" charset="0"/>
              <a:ea typeface="黑体" charset="0"/>
              <a:cs typeface="黑体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41325" y="1299845"/>
            <a:ext cx="11570970" cy="2570480"/>
          </a:xfrm>
        </p:spPr>
        <p:txBody>
          <a:bodyPr anchor="ctr" anchorCtr="0">
            <a:noAutofit/>
          </a:bodyPr>
          <a:p>
            <a:pPr algn="ctr"/>
            <a:r>
              <a:rPr lang="en-US" altLang="zh-CN" sz="32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Human–Algorithm Collaboration in Exoplanet Detection: </a:t>
            </a:r>
            <a:br>
              <a:rPr lang="en-US" altLang="zh-CN" sz="32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</a:br>
            <a:r>
              <a:rPr lang="en-US" altLang="zh-CN" sz="32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 Planet Hunters TESS Citizen Science Project</a:t>
            </a:r>
            <a:endParaRPr lang="en-US" altLang="zh-CN" sz="32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4718005"/>
            <a:ext cx="9799200" cy="1472400"/>
          </a:xfrm>
        </p:spPr>
        <p:txBody>
          <a:bodyPr/>
          <a:p>
            <a:r>
              <a:rPr lang="en-US" altLang="zh-CN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Mathew Zhou</a:t>
            </a:r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5" name="图片 4" descr="PIA15258~mediu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0415"/>
            <a:ext cx="12192000" cy="54102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198800" y="4718005"/>
            <a:ext cx="9799200" cy="1472400"/>
          </a:xfrm>
        </p:spPr>
        <p:txBody>
          <a:bodyPr/>
          <a:p>
            <a:r>
              <a:rPr lang="en-US" altLang="zh-CN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Mathew Zhou</a:t>
            </a:r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4" name="图片 3" descr="PIA10106~ori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0"/>
            <a:ext cx="9144000" cy="67684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41325" y="1299845"/>
            <a:ext cx="11570970" cy="2570480"/>
          </a:xfrm>
        </p:spPr>
        <p:txBody>
          <a:bodyPr anchor="ctr" anchorCtr="0">
            <a:noAutofit/>
          </a:bodyPr>
          <a:p>
            <a:pPr algn="ctr"/>
            <a:r>
              <a:rPr lang="en-US" altLang="zh-CN" sz="32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Human–Algorithm Collaboration in Exoplanet Detection: </a:t>
            </a:r>
            <a:br>
              <a:rPr lang="en-US" altLang="zh-CN" sz="32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</a:br>
            <a:r>
              <a:rPr lang="en-US" altLang="zh-CN" sz="32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 Planet Hunters TESS Citizen Science Project</a:t>
            </a:r>
            <a:endParaRPr lang="en-US" altLang="zh-CN" sz="32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4718005"/>
            <a:ext cx="9799200" cy="1472400"/>
          </a:xfrm>
        </p:spPr>
        <p:txBody>
          <a:bodyPr/>
          <a:p>
            <a:r>
              <a:rPr lang="en-US" altLang="zh-CN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Mathew Zhou</a:t>
            </a:r>
            <a:endParaRPr lang="en-US" altLang="zh-CN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4" name="图片 3" descr="截屏2026-06-07 23.06.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45858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04570" y="785495"/>
            <a:ext cx="10182225" cy="5108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Sigma clipping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Detrending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BLS period search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Phase folding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Transit visulization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04570" y="785495"/>
            <a:ext cx="10182225" cy="5108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sigma clipping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detrending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BLS period search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Phase folding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transit visulization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2" name="图片 1" descr="step1_ra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860" y="1346835"/>
            <a:ext cx="11891010" cy="39865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04570" y="785495"/>
            <a:ext cx="10182225" cy="5108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sigma clipping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detrending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BLS period search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Phase folding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transit visulization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2" name="图片 1" descr="step2_cli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488440"/>
            <a:ext cx="11577955" cy="38817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04570" y="785495"/>
            <a:ext cx="10182225" cy="5108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sigma clipping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detrending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BLS period search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Phase folding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transit visulization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2" name="图片 1" descr="step3_fla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085" y="1637030"/>
            <a:ext cx="11847195" cy="39560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04570" y="785495"/>
            <a:ext cx="10182225" cy="5108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sigma clipping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detrending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BLS period search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Phase folding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transit visulization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2" name="图片 1" descr="step4_bl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060" y="1087755"/>
            <a:ext cx="10723245" cy="46831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04570" y="785495"/>
            <a:ext cx="10182225" cy="5108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sigma clipping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detrending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BLS period search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Phase folding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transit visulization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2" name="图片 1" descr="step5_phas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325" y="877570"/>
            <a:ext cx="11055985" cy="50165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04570" y="785495"/>
            <a:ext cx="10182225" cy="5108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sigma clipping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detrending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BLS period search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Phase folding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transit visulization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3" name="图片 2" descr="step6_transi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005" y="1169035"/>
            <a:ext cx="11604625" cy="45205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04570" y="785495"/>
            <a:ext cx="10182225" cy="5108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sigma clipping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detrending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BLS period search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Phase folding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transit visulization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2" name="图片 1" descr="step1_ra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45590"/>
            <a:ext cx="12192000" cy="40551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04570" y="785495"/>
            <a:ext cx="10182225" cy="5108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sigma clipping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detrending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BLS period search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Phase folding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transit visulization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2" name="图片 1" descr="step2_cli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55250" cy="3429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04570" y="785495"/>
            <a:ext cx="10182225" cy="5108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sigma clipping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detrending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BLS period search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Phase folding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transit visulization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2" name="图片 1" descr="step2_cli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55250" cy="3429000"/>
          </a:xfrm>
          <a:prstGeom prst="rect">
            <a:avLst/>
          </a:prstGeom>
        </p:spPr>
      </p:pic>
      <p:pic>
        <p:nvPicPr>
          <p:cNvPr id="3" name="图片 2" descr="step3_fl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70" y="1055370"/>
            <a:ext cx="11046460" cy="36791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04570" y="785495"/>
            <a:ext cx="10182225" cy="5108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sigma clipping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detrending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BLS period search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Phase folding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transit visulization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2" name="图片 1" descr="step2_cli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55250" cy="3429000"/>
          </a:xfrm>
          <a:prstGeom prst="rect">
            <a:avLst/>
          </a:prstGeom>
        </p:spPr>
      </p:pic>
      <p:pic>
        <p:nvPicPr>
          <p:cNvPr id="3" name="图片 2" descr="step3_fl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70" y="1055370"/>
            <a:ext cx="11046460" cy="3679190"/>
          </a:xfrm>
          <a:prstGeom prst="rect">
            <a:avLst/>
          </a:prstGeom>
        </p:spPr>
      </p:pic>
      <p:pic>
        <p:nvPicPr>
          <p:cNvPr id="4" name="图片 3" descr="step4_b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680" y="2142490"/>
            <a:ext cx="8591550" cy="37515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04570" y="785495"/>
            <a:ext cx="10182225" cy="5108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sigma clipping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detrending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BLS period search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Phase folding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fontAlgn="auto">
              <a:lnSpc>
                <a:spcPct val="150000"/>
              </a:lnSpc>
              <a:buAutoNum type="arabicPeriod"/>
            </a:pPr>
            <a:r>
              <a:rPr lang="en-US" altLang="zh-CN" sz="2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transit visulization</a:t>
            </a:r>
            <a:endParaRPr lang="en-US" altLang="zh-CN" sz="2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2" name="图片 1" descr="step2_cli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55250" cy="3429000"/>
          </a:xfrm>
          <a:prstGeom prst="rect">
            <a:avLst/>
          </a:prstGeom>
        </p:spPr>
      </p:pic>
      <p:pic>
        <p:nvPicPr>
          <p:cNvPr id="3" name="图片 2" descr="step3_fl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70" y="1055370"/>
            <a:ext cx="11046460" cy="3679190"/>
          </a:xfrm>
          <a:prstGeom prst="rect">
            <a:avLst/>
          </a:prstGeom>
        </p:spPr>
      </p:pic>
      <p:pic>
        <p:nvPicPr>
          <p:cNvPr id="4" name="图片 3" descr="step4_b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680" y="2142490"/>
            <a:ext cx="8591550" cy="3751580"/>
          </a:xfrm>
          <a:prstGeom prst="rect">
            <a:avLst/>
          </a:prstGeom>
        </p:spPr>
      </p:pic>
      <p:pic>
        <p:nvPicPr>
          <p:cNvPr id="6" name="图片 5" descr="step5_phas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6235" y="3178175"/>
            <a:ext cx="8025765" cy="367982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 descr="step6_transi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135" y="1134110"/>
            <a:ext cx="11810365" cy="45891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step1_ra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39215"/>
            <a:ext cx="12192000" cy="39706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step2_cli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841865" cy="32505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step2_cli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841865" cy="3250565"/>
          </a:xfrm>
          <a:prstGeom prst="rect">
            <a:avLst/>
          </a:prstGeom>
        </p:spPr>
      </p:pic>
      <p:pic>
        <p:nvPicPr>
          <p:cNvPr id="4" name="图片 3" descr="step3_fl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45" y="786765"/>
            <a:ext cx="10021570" cy="33464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step2_cli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841865" cy="3250565"/>
          </a:xfrm>
          <a:prstGeom prst="rect">
            <a:avLst/>
          </a:prstGeom>
        </p:spPr>
      </p:pic>
      <p:pic>
        <p:nvPicPr>
          <p:cNvPr id="4" name="图片 3" descr="step3_fl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45" y="786765"/>
            <a:ext cx="10021570" cy="3346450"/>
          </a:xfrm>
          <a:prstGeom prst="rect">
            <a:avLst/>
          </a:prstGeom>
        </p:spPr>
      </p:pic>
      <p:pic>
        <p:nvPicPr>
          <p:cNvPr id="2" name="图片 1" descr="step4_b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610" y="1397635"/>
            <a:ext cx="9813925" cy="42424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step2_cli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841865" cy="3250565"/>
          </a:xfrm>
          <a:prstGeom prst="rect">
            <a:avLst/>
          </a:prstGeom>
        </p:spPr>
      </p:pic>
      <p:pic>
        <p:nvPicPr>
          <p:cNvPr id="4" name="图片 3" descr="step3_fl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45" y="786765"/>
            <a:ext cx="10021570" cy="3346450"/>
          </a:xfrm>
          <a:prstGeom prst="rect">
            <a:avLst/>
          </a:prstGeom>
        </p:spPr>
      </p:pic>
      <p:pic>
        <p:nvPicPr>
          <p:cNvPr id="2" name="图片 1" descr="step4_b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610" y="1397635"/>
            <a:ext cx="9813925" cy="4242435"/>
          </a:xfrm>
          <a:prstGeom prst="rect">
            <a:avLst/>
          </a:prstGeom>
        </p:spPr>
      </p:pic>
      <p:pic>
        <p:nvPicPr>
          <p:cNvPr id="5" name="图片 4" descr="step5_phas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8975" y="2214880"/>
            <a:ext cx="10233025" cy="464312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step6_transi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76325"/>
            <a:ext cx="12080240" cy="47059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截屏2026-06-07 23.49.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" y="5066665"/>
            <a:ext cx="10401300" cy="774700"/>
          </a:xfrm>
          <a:prstGeom prst="rect">
            <a:avLst/>
          </a:prstGeom>
        </p:spPr>
      </p:pic>
      <p:pic>
        <p:nvPicPr>
          <p:cNvPr id="7" name="图片 6" descr="截屏2026-06-07 23.50.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650" y="756285"/>
            <a:ext cx="9347200" cy="673100"/>
          </a:xfrm>
          <a:prstGeom prst="rect">
            <a:avLst/>
          </a:prstGeom>
        </p:spPr>
      </p:pic>
      <p:pic>
        <p:nvPicPr>
          <p:cNvPr id="8" name="图片 7" descr="截屏2026-06-07 23.48.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" y="2379345"/>
            <a:ext cx="10267950" cy="14859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 descr="截屏2026-06-08 00.07.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83260"/>
            <a:ext cx="12192000" cy="54908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310515" y="2143760"/>
            <a:ext cx="11570970" cy="2570480"/>
          </a:xfrm>
        </p:spPr>
        <p:txBody>
          <a:bodyPr anchor="ctr" anchorCtr="0">
            <a:noAutofit/>
          </a:bodyPr>
          <a:p>
            <a:pPr algn="ctr"/>
            <a:r>
              <a:rPr lang="en-US" altLang="zh-CN" sz="4800">
                <a:solidFill>
                  <a:schemeClr val="bg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Thank you!</a:t>
            </a:r>
            <a:endParaRPr lang="en-US" altLang="zh-CN" sz="4800">
              <a:solidFill>
                <a:schemeClr val="bg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1258</Words>
  <Application>WPS 文字</Application>
  <PresentationFormat>宽屏</PresentationFormat>
  <Paragraphs>89</Paragraphs>
  <Slides>26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3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Times New Roman Regular</vt:lpstr>
      <vt:lpstr>汉仪中简黑简</vt:lpstr>
      <vt:lpstr>凌慧体-简</vt:lpstr>
      <vt:lpstr>Heiti TC Light</vt:lpstr>
      <vt:lpstr>黑体</vt:lpstr>
      <vt:lpstr>汉仪中黑KW</vt:lpstr>
      <vt:lpstr>WPS</vt:lpstr>
      <vt:lpstr>PowerPoint 演示文稿</vt:lpstr>
      <vt:lpstr>Human–Algorithm Collaboration in Exoplanet Detection:  A Planet Hunters TESS Citizen Science Project</vt:lpstr>
      <vt:lpstr>Human–Algorithm Collaboration in Exoplanet Detection:  A Planet Hunters TESS Citizen Science Project</vt:lpstr>
      <vt:lpstr>Human–Algorithm Collaboration in Exoplanet Detection:  A Planet Hunters TESS Citizen Science Project</vt:lpstr>
      <vt:lpstr>Human–Algorithm Collaboration in Exoplanet Detection:  A Planet Hunters TESS Citizen Science Project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Human–Algorithm Collaboration in Exoplanet Detection:  A Planet Hunters TESS Citizen Science Project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strangenoah</dc:creator>
  <cp:lastModifiedBy>周子涵</cp:lastModifiedBy>
  <cp:revision>192</cp:revision>
  <dcterms:created xsi:type="dcterms:W3CDTF">2026-06-07T16:08:55Z</dcterms:created>
  <dcterms:modified xsi:type="dcterms:W3CDTF">2026-06-07T16:08:55Z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8506688F291441732888256A9CE0239E_41</vt:lpwstr>
  </property>
</Properties>
</file>