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3"/>
    <p:sldId id="258" r:id="rId4"/>
    <p:sldId id="259" r:id="rId5"/>
    <p:sldId id="263" r:id="rId6"/>
    <p:sldId id="261" r:id="rId7"/>
    <p:sldId id="264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08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8.xml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Why is our Solar System so different?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355" cy="5214620"/>
          </a:xfrm>
        </p:spPr>
        <p:txBody>
          <a:bodyPr>
            <a:normAutofit fontScale="90000"/>
          </a:bodyPr>
          <a:p>
            <a:r>
              <a:rPr lang="en-US" altLang="zh-CN" sz="23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Exoplanetary systems:</a:t>
            </a:r>
            <a:endParaRPr lang="en-US" altLang="zh-CN" sz="23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 algn="l" defTabSz="914400">
              <a:lnSpc>
                <a:spcPct val="130000"/>
              </a:lnSpc>
              <a:spcAft>
                <a:spcPts val="1000"/>
              </a:spcAft>
              <a:buClrTx/>
              <a:buSzTx/>
            </a:pPr>
            <a:r>
              <a:rPr lang="en-US" altLang="zh-CN" sz="20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Hot-Jupiters close to stars</a:t>
            </a:r>
            <a:endParaRPr lang="en-US" altLang="zh-CN" sz="20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z="20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Super-Earths very common</a:t>
            </a:r>
            <a:endParaRPr lang="en-US" altLang="zh-CN" sz="20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r>
              <a:rPr lang="en-US" altLang="zh-CN" sz="23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Our Solar System:</a:t>
            </a:r>
            <a:endParaRPr lang="en-US" altLang="zh-CN" sz="2300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r>
              <a:rPr lang="en-US" altLang="zh-CN" sz="20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No hot-Jupiter</a:t>
            </a:r>
            <a:endParaRPr lang="en-US" altLang="zh-CN" sz="2000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r>
              <a:rPr lang="en-US" altLang="zh-CN" sz="20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Giant planets are far from the Sun</a:t>
            </a:r>
            <a:endParaRPr lang="en-US" altLang="zh-CN" sz="2000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en-US" altLang="zh-CN" sz="24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en-US" altLang="zh-CN" sz="24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en-US" altLang="zh-CN" sz="24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24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Is our Solar System typical—or unusual?</a:t>
            </a:r>
            <a:endParaRPr lang="en-US" altLang="zh-CN" sz="24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7" name="图片 6" descr="截屏2026-04-10 20.54.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40" y="1490345"/>
            <a:ext cx="6393180" cy="47974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Key Puzzles in the Solar System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6346190" cy="5367655"/>
          </a:xfrm>
        </p:spPr>
        <p:txBody>
          <a:bodyPr>
            <a:normAutofit lnSpcReduction="20000"/>
          </a:bodyPr>
          <a:p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Giant planet orbits: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Large spacing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Non-zero eccentricities and inclinations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Difficult to explain with a static formation model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4" name="图片 3" descr="PIA14654~sma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3380" y="4200525"/>
            <a:ext cx="2530475" cy="2530475"/>
          </a:xfrm>
          <a:prstGeom prst="rect">
            <a:avLst/>
          </a:prstGeom>
        </p:spPr>
      </p:pic>
      <p:pic>
        <p:nvPicPr>
          <p:cNvPr id="5" name="图片 4" descr="PIA17304~sm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970" y="2615565"/>
            <a:ext cx="3250565" cy="34899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243320" y="1490345"/>
            <a:ext cx="5067935" cy="2901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r>
              <a:rPr lang="en-US" altLang="zh-CN" spc="150">
                <a:solidFill>
                  <a:schemeClr val="bg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Kuiper Belt:</a:t>
            </a:r>
            <a:endParaRPr lang="en-US" altLang="zh-CN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r>
              <a:rPr lang="en-US" altLang="zh-CN" sz="1600" spc="150">
                <a:solidFill>
                  <a:schemeClr val="bg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Structured distribution</a:t>
            </a:r>
            <a:endParaRPr lang="en-US" altLang="zh-CN" sz="1600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r>
              <a:rPr lang="en-US" altLang="zh-CN" sz="1600" spc="150">
                <a:solidFill>
                  <a:schemeClr val="bg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Evidence of past perturbations</a:t>
            </a:r>
            <a:endParaRPr lang="en-US" altLang="zh-CN" sz="1600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r>
              <a:rPr lang="en-US" altLang="zh-CN" spc="150">
                <a:solidFill>
                  <a:schemeClr val="bg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Late Heavy Bombardment (~3.8 Ga):</a:t>
            </a:r>
            <a:endParaRPr lang="en-US" altLang="zh-CN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r>
              <a:rPr lang="en-US" altLang="zh-CN" sz="1600" spc="150">
                <a:solidFill>
                  <a:schemeClr val="bg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Sudden spike in impact events</a:t>
            </a:r>
            <a:endParaRPr lang="en-US" altLang="zh-CN" sz="1600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r>
              <a:rPr lang="en-US" altLang="zh-CN" sz="1600" spc="150">
                <a:solidFill>
                  <a:schemeClr val="bg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Recorded in lunar samples</a:t>
            </a:r>
            <a:endParaRPr lang="en-US" altLang="zh-CN" sz="1600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endParaRPr lang="en-US" altLang="zh-CN" sz="1600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 descr="截屏2026-04-10 21.03.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0750" y="3709035"/>
            <a:ext cx="4267835" cy="29591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Two key papers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330" y="1490345"/>
            <a:ext cx="10968990" cy="526669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zh-CN" sz="20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1."Origin of the cataclysmic Late Heavy Bombardment period of the terrestrial planets." Nature, 435, 466-469 (2005).</a:t>
            </a:r>
            <a:endParaRPr lang="en-US" altLang="zh-CN" sz="20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zh-CN" sz="20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Method: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N-body simulations (giant planets + outer disk)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Process: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Planet–disk interaction </a:t>
            </a:r>
            <a:r>
              <a:rPr lang="en-US" altLang="en-US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→</a:t>
            </a:r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migration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Jupiter moves inward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Saturn </a:t>
            </a:r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moves outward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99200" y="2800350"/>
            <a:ext cx="6159500" cy="36283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r>
              <a:rPr lang="en-US" altLang="zh-CN" spc="150">
                <a:solidFill>
                  <a:schemeClr val="bg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Key mechanism:</a:t>
            </a:r>
            <a:endParaRPr lang="en-US" altLang="zh-CN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r>
              <a:rPr lang="en-US" altLang="zh-CN" sz="1600" spc="150">
                <a:solidFill>
                  <a:schemeClr val="bg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Jupiter–Saturn enter mean-motion resonance</a:t>
            </a:r>
            <a:endParaRPr lang="en-US" altLang="zh-CN" sz="1600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r>
              <a:rPr lang="en-US" altLang="zh-CN" sz="1600" spc="150">
                <a:solidFill>
                  <a:schemeClr val="bg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→ Orbital eccentricities increase</a:t>
            </a:r>
            <a:endParaRPr lang="en-US" altLang="zh-CN" sz="1600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r>
              <a:rPr lang="en-US" altLang="zh-CN" sz="1600" spc="150">
                <a:solidFill>
                  <a:schemeClr val="bg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→ Dynamical instability triggered</a:t>
            </a:r>
            <a:endParaRPr lang="en-US" altLang="zh-CN" sz="1600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r>
              <a:rPr lang="en-US" altLang="zh-CN" spc="150">
                <a:solidFill>
                  <a:schemeClr val="bg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Result:</a:t>
            </a:r>
            <a:endParaRPr lang="en-US" altLang="zh-CN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r>
              <a:rPr lang="en-US" altLang="zh-CN" sz="1600" spc="150">
                <a:solidFill>
                  <a:schemeClr val="bg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Planetesimals scattered inward</a:t>
            </a:r>
            <a:endParaRPr lang="en-US" altLang="zh-CN" sz="1600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r>
              <a:rPr lang="en-US" altLang="zh-CN" sz="1600" spc="150">
                <a:solidFill>
                  <a:schemeClr val="bg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→ Explains Late Heavy Bombardment</a:t>
            </a:r>
            <a:endParaRPr lang="en-US" altLang="zh-CN" sz="1600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endParaRPr lang="en-US" altLang="zh-CN" sz="1600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" name="图片 5" descr="截屏2026-04-10 21.07.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715" y="0"/>
            <a:ext cx="988822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Two key papers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zh-CN" sz="20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2."Origin of the orbital architecture of the giant planets of the Solar System." Nature, 435, 459-461 (2005).</a:t>
            </a:r>
            <a:endParaRPr lang="en-US" altLang="zh-CN" sz="20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en-US" altLang="zh-CN" sz="20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Method: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N-body simulations from compact initial system</a:t>
            </a:r>
            <a:endParaRPr lang="en-US" altLang="zh-CN" sz="1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Process: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Instability phase </a:t>
            </a:r>
            <a:r>
              <a:rPr lang="en-US" altLang="en-US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→</a:t>
            </a:r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close encounters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Angular momentum exchange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49670" y="3009900"/>
            <a:ext cx="5327650" cy="27317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r>
              <a:rPr lang="en-US" altLang="zh-CN" spc="150">
                <a:solidFill>
                  <a:schemeClr val="bg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Key outcome:</a:t>
            </a:r>
            <a:endParaRPr lang="en-US" altLang="zh-CN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r>
              <a:rPr lang="en-US" altLang="zh-CN" sz="1600" spc="150">
                <a:solidFill>
                  <a:schemeClr val="bg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Large-scale planetary migration</a:t>
            </a:r>
            <a:endParaRPr lang="en-US" altLang="zh-CN" sz="1600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r>
              <a:rPr lang="en-US" altLang="zh-CN" spc="150">
                <a:solidFill>
                  <a:schemeClr val="bg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Result:</a:t>
            </a:r>
            <a:endParaRPr lang="en-US" altLang="zh-CN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r>
              <a:rPr lang="en-US" altLang="zh-CN" sz="1600" spc="150">
                <a:solidFill>
                  <a:schemeClr val="bg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Final orbits match present Solar System</a:t>
            </a:r>
            <a:endParaRPr lang="en-US" altLang="zh-CN" sz="1600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r>
              <a:rPr lang="en-US" altLang="zh-CN" sz="1600" spc="150">
                <a:solidFill>
                  <a:schemeClr val="bg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Explains spacing, eccentricity, inclination</a:t>
            </a:r>
            <a:endParaRPr lang="en-US" altLang="zh-CN" sz="1600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</a:pPr>
            <a:endParaRPr lang="en-US" altLang="zh-CN" sz="1600" spc="150">
              <a:solidFill>
                <a:schemeClr val="bg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截屏2026-04-10 21.08.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560" y="0"/>
            <a:ext cx="11104880" cy="6426200"/>
          </a:xfrm>
          <a:prstGeom prst="rect">
            <a:avLst/>
          </a:prstGeom>
        </p:spPr>
      </p:pic>
      <p:pic>
        <p:nvPicPr>
          <p:cNvPr id="4" name="图片 3" descr="截屏2026-04-10 21.11.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065" y="6377940"/>
            <a:ext cx="4547235" cy="4800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 descr="PIA21428~smal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990" y="1313815"/>
            <a:ext cx="6303010" cy="504253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The Nice Model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330" y="1490345"/>
            <a:ext cx="10968990" cy="5265420"/>
          </a:xfrm>
        </p:spPr>
        <p:txBody>
          <a:bodyPr>
            <a:normAutofit/>
          </a:bodyPr>
          <a:p>
            <a:r>
              <a:rPr lang="en-US" altLang="zh-CN" sz="20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Migration </a:t>
            </a:r>
            <a:r>
              <a:rPr lang="en-US" altLang="en-US" sz="20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→</a:t>
            </a:r>
            <a:r>
              <a:rPr lang="en-US" altLang="zh-CN" sz="20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Resonance </a:t>
            </a:r>
            <a:r>
              <a:rPr lang="en-US" altLang="en-US" sz="20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→</a:t>
            </a:r>
            <a:r>
              <a:rPr lang="en-US" altLang="zh-CN" sz="20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Instability</a:t>
            </a:r>
            <a:endParaRPr lang="en-US" altLang="zh-CN" sz="20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endParaRPr lang="en-US" altLang="zh-CN" sz="1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20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One mechanism explains multiple observations</a:t>
            </a:r>
            <a:endParaRPr lang="en-US" altLang="zh-CN" sz="20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z="1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Giant planet migration</a:t>
            </a:r>
            <a:endParaRPr lang="en-US" altLang="zh-CN" sz="1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z="1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Late Heavy Bombardment</a:t>
            </a:r>
            <a:endParaRPr lang="en-US" altLang="zh-CN" sz="1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20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Implications:</a:t>
            </a:r>
            <a:endParaRPr lang="en-US" altLang="zh-CN" sz="20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z="1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Solar System is dynamically evolved</a:t>
            </a:r>
            <a:endParaRPr lang="en-US" altLang="zh-CN" sz="1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z="1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Planetary migration </a:t>
            </a:r>
            <a:endParaRPr lang="en-US" altLang="zh-CN" sz="1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1560</Words>
  <Application>WPS 文字</Application>
  <PresentationFormat>宽屏</PresentationFormat>
  <Paragraphs>90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汉仪书宋二KW</vt:lpstr>
      <vt:lpstr>苹方-简</vt:lpstr>
      <vt:lpstr>微软雅黑</vt:lpstr>
      <vt:lpstr>汉仪旗黑</vt:lpstr>
      <vt:lpstr>宋体</vt:lpstr>
      <vt:lpstr>Arial Unicode MS</vt:lpstr>
      <vt:lpstr>Times New Roman Regular</vt:lpstr>
      <vt:lpstr>WPS</vt:lpstr>
      <vt:lpstr>PowerPoint 演示文稿</vt:lpstr>
      <vt:lpstr>PowerPoint 演示文稿</vt:lpstr>
      <vt:lpstr>PowerPoint 演示文稿</vt:lpstr>
      <vt:lpstr>PowerPoint 演示文稿</vt:lpstr>
      <vt:lpstr>Two key essays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周子涵</cp:lastModifiedBy>
  <cp:revision>181</cp:revision>
  <dcterms:created xsi:type="dcterms:W3CDTF">2026-04-10T13:25:50Z</dcterms:created>
  <dcterms:modified xsi:type="dcterms:W3CDTF">2026-04-10T13:25:50Z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C8DB8B7ABD80C86899EAD8697C3975B6_41</vt:lpwstr>
  </property>
</Properties>
</file>